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59" r:id="rId6"/>
    <p:sldId id="268" r:id="rId7"/>
    <p:sldId id="261" r:id="rId8"/>
    <p:sldId id="262" r:id="rId9"/>
    <p:sldId id="267" r:id="rId10"/>
    <p:sldId id="266" r:id="rId11"/>
    <p:sldId id="265" r:id="rId12"/>
    <p:sldId id="264" r:id="rId13"/>
    <p:sldId id="263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78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9014FB-41B8-288F-E287-BC0F9794E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F56F917-4B2F-DEB3-4377-E4F4316A7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7D354F4-E89F-6919-B9E0-9C984CC45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94BD-0F20-41B2-B1E3-60E6652F3A86}" type="datetimeFigureOut">
              <a:rPr lang="pl-PL" smtClean="0"/>
              <a:t>09.09.2026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BEF2D7D-0D1C-8707-3098-775B0060B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2A10216-F967-660B-30CD-FD211237F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725B-1293-487A-A5F2-6135C805A41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172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729E3E-30A1-8E52-5B52-A64EF8033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ADEDA2B-D1BD-5C53-738E-4329BDB4E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C2EDEEC-8805-2D35-6CDE-4B818DFB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94BD-0F20-41B2-B1E3-60E6652F3A86}" type="datetimeFigureOut">
              <a:rPr lang="pl-PL" smtClean="0"/>
              <a:t>09.09.2026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C8F1F7D-DBF9-5053-D85B-F28C4234F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103313A-FFFC-6116-2B9D-D8F7D4F6F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725B-1293-487A-A5F2-6135C805A41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743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CBDFF15-61F7-FDF3-AE50-B67C7C0D4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65EA1A3-E75B-5CA4-3EA3-8D6FD8EEF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1B05B0E-CA5A-71F2-52E8-36E784328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94BD-0F20-41B2-B1E3-60E6652F3A86}" type="datetimeFigureOut">
              <a:rPr lang="pl-PL" smtClean="0"/>
              <a:t>09.09.2026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D60998C-D4D8-1619-836F-AFBECC17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CF444C7-038C-49A8-B504-D698E9F0C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725B-1293-487A-A5F2-6135C805A41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76668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96D0FF0-6EE3-9F12-A82E-BBE2C4C9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AA09F92-E6F3-C695-CD4D-A1038A94D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A734880-9BC8-22C0-4F74-5A3847086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2221086-3FE6-E163-87E8-BA4B2497B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94BD-0F20-41B2-B1E3-60E6652F3A86}" type="datetimeFigureOut">
              <a:rPr lang="pl-PL" smtClean="0"/>
              <a:t>09.09.2026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7791C4-541B-44A6-FBE6-93059EB3D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A677096-1F37-89F7-C61B-95C177874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725B-1293-487A-A5F2-6135C805A41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2260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C51125-E8B6-33EF-3C52-FBACD8FBC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7614026-A0DB-970C-FE7E-1350DAB95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3B110C5-89D5-4E61-9304-B9BEA9058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428B37E-95CB-4F82-E56F-3FABAC16E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C5177132-2109-07DF-A512-648CC3EA41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56A77E4-5C19-5382-235C-9D89ED40B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94BD-0F20-41B2-B1E3-60E6652F3A86}" type="datetimeFigureOut">
              <a:rPr lang="pl-PL" smtClean="0"/>
              <a:t>09.09.2026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21ABECD-7944-037A-9754-8544F638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F0D4B0C4-30E5-274C-3868-AAFBC49E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725B-1293-487A-A5F2-6135C805A41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527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9FB97C5-7E11-1CB7-499D-5C04E957C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5DE79112-FCDD-76C9-97F3-86D3BA26F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94BD-0F20-41B2-B1E3-60E6652F3A86}" type="datetimeFigureOut">
              <a:rPr lang="pl-PL" smtClean="0"/>
              <a:t>09.09.2026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28B6CA3-75B3-1C06-1F0B-3B468C4B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92990D6D-4622-EFF2-E45F-DF76C64F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725B-1293-487A-A5F2-6135C805A41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5556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B391D9E6-E2E1-2AF0-63C4-B4096D60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94BD-0F20-41B2-B1E3-60E6652F3A86}" type="datetimeFigureOut">
              <a:rPr lang="pl-PL" smtClean="0"/>
              <a:t>09.09.2026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59F0055A-9B02-7545-DD89-036008BF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8DF0C82-7A6F-1DF5-3178-7952057A4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725B-1293-487A-A5F2-6135C805A41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248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49A84E-C16E-21B1-C9F4-643FD6FCA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8BF83D2-8E07-D4C8-8FBA-8B342C696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91EF583-2965-2913-C0AC-152B20777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03E3677-CA38-47F7-CCB8-FB64FDC6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94BD-0F20-41B2-B1E3-60E6652F3A86}" type="datetimeFigureOut">
              <a:rPr lang="pl-PL" smtClean="0"/>
              <a:t>09.09.2026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5EE66B6-CA13-6DA6-C4F7-90632FA85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45E584A-148E-9975-C061-61102261F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725B-1293-487A-A5F2-6135C805A41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2045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8F0C27-16C1-315A-9CF9-90B310929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A4ABD25-2CDA-AAF6-1599-6AD0366B14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1C02EC8-2A12-401D-0534-3164953F2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A9CEE08-AEA5-A07D-590F-859582735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94BD-0F20-41B2-B1E3-60E6652F3A86}" type="datetimeFigureOut">
              <a:rPr lang="pl-PL" smtClean="0"/>
              <a:t>09.09.2026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32673C5-B2DC-5172-7E5C-5858AD32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2B9526E-3444-B3F9-1E4D-70E075977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725B-1293-487A-A5F2-6135C805A41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27250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C8750E0-2934-704C-06B8-74CEA613F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3133EF2-1B7D-4631-261A-47218B21E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0D51265-968C-B60E-8AA6-74D87821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94BD-0F20-41B2-B1E3-60E6652F3A86}" type="datetimeFigureOut">
              <a:rPr lang="pl-PL" smtClean="0"/>
              <a:t>09.09.2026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528AE8F-0A01-4901-CFB2-C26BA7846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4DEDA3F-41CC-C292-2E1A-F6FB49BFE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725B-1293-487A-A5F2-6135C805A41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6750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F9C049A8-1910-7B97-B4C1-3BFA8ACE57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8BC4294-179B-8329-8D6A-FF5AFFC6A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6591212-7100-2965-409F-463840195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94BD-0F20-41B2-B1E3-60E6652F3A86}" type="datetimeFigureOut">
              <a:rPr lang="pl-PL" smtClean="0"/>
              <a:t>09.09.2026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AA0453-DD8E-B0EE-0627-EAB529BEB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9BFE356-97F7-34BF-03D7-03811AF1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725B-1293-487A-A5F2-6135C805A41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37526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7B4CA943-6528-00D7-3B96-4D2AFF995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8E3AA9E-DC9D-D0CF-3512-E1457DC26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3899097-496B-B0D9-299A-E4F39D955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2194BD-0F20-41B2-B1E3-60E6652F3A86}" type="datetimeFigureOut">
              <a:rPr lang="pl-PL" smtClean="0"/>
              <a:t>09.09.2026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0AE83E2-E03E-CE72-75A8-4B0C9437B1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29C08E5-EC71-1805-329D-6371F8432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E2725B-1293-487A-A5F2-6135C805A41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851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wnload.pytorch.org/whl/cu12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A41F35-8D93-D981-6CA9-6E966116C7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Przestrzeliny, raport z uczenia modelu Yolo11n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52BBAC4-B0E6-DD81-E79B-793361E634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Jan Maciążek</a:t>
            </a:r>
          </a:p>
        </p:txBody>
      </p:sp>
    </p:spTree>
    <p:extLst>
      <p:ext uri="{BB962C8B-B14F-4D97-AF65-F5344CB8AC3E}">
        <p14:creationId xmlns:p14="http://schemas.microsoft.com/office/powerpoint/2010/main" val="74928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E5CF3C-6C2E-7308-7A7B-32A4596EC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Instrukcja uruchomienia - Trening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74178E8-B774-2D46-BE81-E58A5AF1A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37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pl-PL" dirty="0"/>
              <a:t>Wygenerować data set o dowolnej ilości obrazów przykładowe 300 i 700 zostaną dołączone do paczki z projektem.</a:t>
            </a:r>
          </a:p>
          <a:p>
            <a:r>
              <a:rPr lang="pl-PL" dirty="0"/>
              <a:t>Zainstalować </a:t>
            </a:r>
            <a:r>
              <a:rPr lang="pl-PL" dirty="0" err="1"/>
              <a:t>Python</a:t>
            </a:r>
            <a:r>
              <a:rPr lang="pl-PL" dirty="0"/>
              <a:t> 3.11 oraz wymagane zależności:</a:t>
            </a:r>
          </a:p>
          <a:p>
            <a:pPr lvl="1"/>
            <a:r>
              <a:rPr lang="pl-PL" dirty="0" err="1"/>
              <a:t>winget</a:t>
            </a:r>
            <a:r>
              <a:rPr lang="pl-PL" dirty="0"/>
              <a:t> </a:t>
            </a:r>
            <a:r>
              <a:rPr lang="pl-PL" dirty="0" err="1"/>
              <a:t>install</a:t>
            </a:r>
            <a:r>
              <a:rPr lang="pl-PL" dirty="0"/>
              <a:t> Python.Python.3.11</a:t>
            </a:r>
          </a:p>
          <a:p>
            <a:pPr lvl="1"/>
            <a:r>
              <a:rPr lang="en-US" dirty="0"/>
              <a:t>pip install torch </a:t>
            </a:r>
            <a:r>
              <a:rPr lang="en-US" dirty="0" err="1"/>
              <a:t>torchvision</a:t>
            </a:r>
            <a:r>
              <a:rPr lang="en-US" dirty="0"/>
              <a:t> --index-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https://download.pytorch.org/whl/cu121</a:t>
            </a:r>
            <a:endParaRPr lang="pl-PL" dirty="0"/>
          </a:p>
          <a:p>
            <a:pPr lvl="1"/>
            <a:r>
              <a:rPr lang="en-US" dirty="0"/>
              <a:t>pip install </a:t>
            </a:r>
            <a:r>
              <a:rPr lang="en-US" dirty="0" err="1"/>
              <a:t>ultralytics</a:t>
            </a:r>
            <a:r>
              <a:rPr lang="en-US" dirty="0"/>
              <a:t> Pillow pandas</a:t>
            </a:r>
            <a:endParaRPr lang="pl-PL" dirty="0"/>
          </a:p>
          <a:p>
            <a:r>
              <a:rPr lang="pl-PL" dirty="0"/>
              <a:t>Uruchomić skrypt </a:t>
            </a:r>
            <a:r>
              <a:rPr lang="en-US" dirty="0"/>
              <a:t>bulk_optimize_and_rescale_to_1024</a:t>
            </a:r>
            <a:r>
              <a:rPr lang="pl-PL" dirty="0"/>
              <a:t>.</a:t>
            </a:r>
            <a:r>
              <a:rPr lang="pl-PL" dirty="0" err="1"/>
              <a:t>py</a:t>
            </a:r>
            <a:endParaRPr lang="pl-PL" dirty="0"/>
          </a:p>
          <a:p>
            <a:r>
              <a:rPr lang="pl-PL" dirty="0"/>
              <a:t>Uruchomić skrypt train_pipeline.py</a:t>
            </a:r>
          </a:p>
          <a:p>
            <a:r>
              <a:rPr lang="pl-PL" b="1" dirty="0"/>
              <a:t>Wytrenowane modele pojawią się w folderze trainer_1024/</a:t>
            </a:r>
            <a:r>
              <a:rPr lang="en-US" b="1" dirty="0"/>
              <a:t>runs</a:t>
            </a:r>
            <a:r>
              <a:rPr lang="pl-PL" b="1" dirty="0"/>
              <a:t>/</a:t>
            </a:r>
            <a:r>
              <a:rPr lang="en-US" b="1" dirty="0"/>
              <a:t>detect</a:t>
            </a:r>
            <a:r>
              <a:rPr lang="pl-PL" b="1" dirty="0"/>
              <a:t>/</a:t>
            </a:r>
            <a:r>
              <a:rPr lang="en-US" b="1" dirty="0" err="1"/>
              <a:t>target_detector_run</a:t>
            </a:r>
            <a:endParaRPr lang="pl-PL" b="1" dirty="0"/>
          </a:p>
        </p:txBody>
      </p:sp>
    </p:spTree>
    <p:extLst>
      <p:ext uri="{BB962C8B-B14F-4D97-AF65-F5344CB8AC3E}">
        <p14:creationId xmlns:p14="http://schemas.microsoft.com/office/powerpoint/2010/main" val="3479015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6EB9C-22CE-EA8B-70B4-65B99CE0C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48E05B5-9DC7-041A-7E8B-7D91F5488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Instrukcja uruchomienia – Predykcja (naoczna weryfikacja działania modelu)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797135D-9D2F-9803-2929-882A709B8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3725"/>
            <a:ext cx="10515600" cy="4351338"/>
          </a:xfrm>
        </p:spPr>
        <p:txBody>
          <a:bodyPr>
            <a:normAutofit/>
          </a:bodyPr>
          <a:lstStyle/>
          <a:p>
            <a:r>
              <a:rPr lang="pl-PL" dirty="0"/>
              <a:t>Wejść pod ścieżkę: </a:t>
            </a:r>
            <a:r>
              <a:rPr lang="en-US" b="1" dirty="0"/>
              <a:t>trainer_1024\runs\detect\</a:t>
            </a:r>
            <a:r>
              <a:rPr lang="en-US" b="1" dirty="0" err="1"/>
              <a:t>target_detector_runs</a:t>
            </a:r>
            <a:endParaRPr lang="pl-PL" b="1" dirty="0"/>
          </a:p>
          <a:p>
            <a:r>
              <a:rPr lang="pl-PL" dirty="0"/>
              <a:t>Uruchomić skrypt predict.py</a:t>
            </a:r>
          </a:p>
          <a:p>
            <a:r>
              <a:rPr lang="pl-PL" dirty="0"/>
              <a:t>W folderze </a:t>
            </a:r>
            <a:r>
              <a:rPr lang="en-US" dirty="0"/>
              <a:t>trainer_1024\runs\detect\target_detector_runs\prediction</a:t>
            </a:r>
            <a:r>
              <a:rPr lang="pl-PL" dirty="0"/>
              <a:t> znajdują się wygenerowane tarcze (</a:t>
            </a:r>
            <a:r>
              <a:rPr lang="pl-PL" dirty="0" err="1"/>
              <a:t>images</a:t>
            </a:r>
            <a:r>
              <a:rPr lang="pl-PL" dirty="0"/>
              <a:t>, </a:t>
            </a:r>
            <a:r>
              <a:rPr lang="pl-PL" dirty="0" err="1"/>
              <a:t>labels</a:t>
            </a:r>
            <a:r>
              <a:rPr lang="pl-PL" dirty="0"/>
              <a:t>). Po uruchomieniu skryptu </a:t>
            </a:r>
            <a:r>
              <a:rPr lang="pl-PL" dirty="0" err="1"/>
              <a:t>predict</a:t>
            </a:r>
            <a:r>
              <a:rPr lang="pl-PL" dirty="0"/>
              <a:t> pojawią się w nim również wyniki detekcji </a:t>
            </a:r>
            <a:r>
              <a:rPr lang="pl-PL" dirty="0" err="1"/>
              <a:t>yolo</a:t>
            </a:r>
            <a:r>
              <a:rPr lang="pl-PL" dirty="0"/>
              <a:t>. Np. </a:t>
            </a:r>
            <a:r>
              <a:rPr lang="pl-PL" b="1" dirty="0"/>
              <a:t>results_run_dataset_v2_300 </a:t>
            </a:r>
          </a:p>
        </p:txBody>
      </p:sp>
    </p:spTree>
    <p:extLst>
      <p:ext uri="{BB962C8B-B14F-4D97-AF65-F5344CB8AC3E}">
        <p14:creationId xmlns:p14="http://schemas.microsoft.com/office/powerpoint/2010/main" val="3663942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6C6D534-9115-EF35-A0DA-065F28631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Dane wejściowe i parametry Treningu Modelu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D460920-D4D0-D9D0-61A5-D20C0395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5949"/>
            <a:ext cx="4762500" cy="4291013"/>
          </a:xfrm>
        </p:spPr>
        <p:txBody>
          <a:bodyPr/>
          <a:lstStyle/>
          <a:p>
            <a:r>
              <a:rPr lang="pl-PL" dirty="0"/>
              <a:t>Zbiory Danych (data sety):</a:t>
            </a:r>
          </a:p>
          <a:p>
            <a:r>
              <a:rPr lang="pl-PL" dirty="0"/>
              <a:t>300</a:t>
            </a:r>
          </a:p>
          <a:p>
            <a:r>
              <a:rPr lang="pl-PL" dirty="0"/>
              <a:t>700</a:t>
            </a:r>
          </a:p>
          <a:p>
            <a:r>
              <a:rPr lang="pl-PL" dirty="0"/>
              <a:t>1500</a:t>
            </a:r>
          </a:p>
          <a:p>
            <a:r>
              <a:rPr lang="pl-PL" dirty="0"/>
              <a:t>3000</a:t>
            </a:r>
          </a:p>
          <a:p>
            <a:r>
              <a:rPr lang="pl-PL" dirty="0"/>
              <a:t>6000</a:t>
            </a:r>
          </a:p>
          <a:p>
            <a:r>
              <a:rPr lang="pl-PL" dirty="0"/>
              <a:t>12000</a:t>
            </a:r>
          </a:p>
          <a:p>
            <a:r>
              <a:rPr lang="pl-PL" dirty="0"/>
              <a:t>24000</a:t>
            </a:r>
          </a:p>
        </p:txBody>
      </p:sp>
      <p:sp>
        <p:nvSpPr>
          <p:cNvPr id="4" name="Symbol zastępczy zawartości 2">
            <a:extLst>
              <a:ext uri="{FF2B5EF4-FFF2-40B4-BE49-F238E27FC236}">
                <a16:creationId xmlns:a16="http://schemas.microsoft.com/office/drawing/2014/main" id="{1E4DFE0E-21CD-2F45-2F37-F8D04C548BFB}"/>
              </a:ext>
            </a:extLst>
          </p:cNvPr>
          <p:cNvSpPr txBox="1">
            <a:spLocks/>
          </p:cNvSpPr>
          <p:nvPr/>
        </p:nvSpPr>
        <p:spPr>
          <a:xfrm>
            <a:off x="5600700" y="1885948"/>
            <a:ext cx="4762500" cy="4291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Podział danych:</a:t>
            </a:r>
          </a:p>
          <a:p>
            <a:r>
              <a:rPr lang="pl-PL" dirty="0"/>
              <a:t>Train: 0,80 %</a:t>
            </a:r>
          </a:p>
          <a:p>
            <a:r>
              <a:rPr lang="pl-PL" dirty="0"/>
              <a:t>Val: 0,20%</a:t>
            </a:r>
          </a:p>
        </p:txBody>
      </p:sp>
    </p:spTree>
    <p:extLst>
      <p:ext uri="{BB962C8B-B14F-4D97-AF65-F5344CB8AC3E}">
        <p14:creationId xmlns:p14="http://schemas.microsoft.com/office/powerpoint/2010/main" val="420175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7061E7-8ADA-DEFA-E80E-2F8A78FCE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Architektura i Optymalizacja </a:t>
            </a:r>
            <a:r>
              <a:rPr lang="pl-PL" dirty="0" err="1"/>
              <a:t>Pipeline'u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BF39324-1594-C2F6-921A-8332D7B19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pl-PL" sz="2600" b="1" dirty="0"/>
              <a:t>Model bazowy:</a:t>
            </a:r>
            <a:r>
              <a:rPr lang="pl-PL" sz="2600" dirty="0"/>
              <a:t> YOLO11n (wersja </a:t>
            </a:r>
            <a:r>
              <a:rPr lang="pl-PL" sz="2600" dirty="0" err="1"/>
              <a:t>nano</a:t>
            </a:r>
            <a:r>
              <a:rPr lang="pl-PL" sz="2600" dirty="0"/>
              <a:t>, 2,59 mln parametrów) dobrany pod kątem wydajności wideo i szybkiego prototypowania detekcji 11 klas punktowych (od 0 do 10).</a:t>
            </a:r>
          </a:p>
          <a:p>
            <a:pPr lvl="0"/>
            <a:r>
              <a:rPr lang="pl-PL" sz="2600" b="1" dirty="0"/>
              <a:t>Decyzja o rozdzielczości:</a:t>
            </a:r>
            <a:r>
              <a:rPr lang="pl-PL" sz="2600" dirty="0"/>
              <a:t> Redukcja bazowej rozdzielczości z 2048px do 1024px dała ~4-krotne przyspieszenie obliczeń (z ~35s do ~7,5s na epokę dla 300 obrazów) przy zachowaniu mAP50 na poziomie 97,2%.</a:t>
            </a:r>
          </a:p>
          <a:p>
            <a:pPr marL="0" indent="0">
              <a:buNone/>
            </a:pPr>
            <a:endParaRPr lang="pl-PL" sz="2600" dirty="0"/>
          </a:p>
        </p:txBody>
      </p:sp>
    </p:spTree>
    <p:extLst>
      <p:ext uri="{BB962C8B-B14F-4D97-AF65-F5344CB8AC3E}">
        <p14:creationId xmlns:p14="http://schemas.microsoft.com/office/powerpoint/2010/main" val="1952822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E16A7C-75F5-F45A-5778-9909C086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Skalowanie Zgromadzonych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42D794C-B77C-FDF2-4FDE-531E67371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pl-PL" sz="2600" b="1" dirty="0"/>
              <a:t>Zakres eksperymentu:</a:t>
            </a:r>
            <a:r>
              <a:rPr lang="pl-PL" sz="2600" dirty="0"/>
              <a:t> Przetestowano 7 wariantów </a:t>
            </a:r>
            <a:r>
              <a:rPr lang="pl-PL" sz="2600" dirty="0" err="1"/>
              <a:t>datasetów</a:t>
            </a:r>
            <a:r>
              <a:rPr lang="pl-PL" sz="2600" dirty="0"/>
              <a:t> o liczności od 300 do 24 000 obrazów z automatycznym podziałem 80/20 (</a:t>
            </a:r>
            <a:r>
              <a:rPr lang="pl-PL" sz="2600" dirty="0" err="1"/>
              <a:t>train</a:t>
            </a:r>
            <a:r>
              <a:rPr lang="pl-PL" sz="2600" dirty="0"/>
              <a:t>/</a:t>
            </a:r>
            <a:r>
              <a:rPr lang="pl-PL" sz="2600" dirty="0" err="1"/>
              <a:t>val</a:t>
            </a:r>
            <a:r>
              <a:rPr lang="pl-PL" sz="2600" dirty="0"/>
              <a:t>) i zachowaniem pełnej spójności par obraz-etykieta.</a:t>
            </a:r>
          </a:p>
          <a:p>
            <a:pPr lvl="0"/>
            <a:r>
              <a:rPr lang="pl-PL" sz="2600" b="1" dirty="0"/>
              <a:t>Efekt nasycenia (</a:t>
            </a:r>
            <a:r>
              <a:rPr lang="pl-PL" sz="2600" b="1" dirty="0" err="1"/>
              <a:t>Diminishing</a:t>
            </a:r>
            <a:r>
              <a:rPr lang="pl-PL" sz="2600" b="1" dirty="0"/>
              <a:t> </a:t>
            </a:r>
            <a:r>
              <a:rPr lang="pl-PL" sz="2600" b="1" dirty="0" err="1"/>
              <a:t>Returns</a:t>
            </a:r>
            <a:r>
              <a:rPr lang="pl-PL" sz="2600" b="1" dirty="0"/>
              <a:t>):</a:t>
            </a:r>
            <a:r>
              <a:rPr lang="pl-PL" sz="2600" dirty="0"/>
              <a:t> Małe zbiory (300–700 obrazów) szybko osiągały wysoką wykrywalność mAP50 (~97%), jednak dopiero pakiety powyżej 6 000 – 12 000 próbek drastycznie podniosły precyzję geometrii ramek ograniczających (mAP50-95 zbliżające się do 99%).</a:t>
            </a:r>
          </a:p>
          <a:p>
            <a:endParaRPr lang="pl-PL" sz="2600" dirty="0"/>
          </a:p>
        </p:txBody>
      </p:sp>
    </p:spTree>
    <p:extLst>
      <p:ext uri="{BB962C8B-B14F-4D97-AF65-F5344CB8AC3E}">
        <p14:creationId xmlns:p14="http://schemas.microsoft.com/office/powerpoint/2010/main" val="1446243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74ECC7E-27C0-DC7E-6AF8-24BE51760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- dataset_v2_300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778DA2B6-2347-62FA-59C9-999FFF0B6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75" y="1690688"/>
            <a:ext cx="847725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44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D82FE-7A98-B23F-1CEE-B7DAE9E5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981E98CD-CEF4-7505-0F98-235C72F84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96" y="854075"/>
            <a:ext cx="6527007" cy="4351338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FC077D7A-A769-176B-0133-AB65567C6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804" y="1343819"/>
            <a:ext cx="449580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87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BEBCD-E1F6-C9E6-ADD8-C49D44197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AA9FEF-EEE3-1500-C5E2-1FC77EDB4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Predykcja modelu </a:t>
            </a:r>
            <a:r>
              <a:rPr lang="pl-PL" dirty="0" err="1"/>
              <a:t>yolo</a:t>
            </a:r>
            <a:r>
              <a:rPr lang="pl-PL" dirty="0"/>
              <a:t> trenowanego na zbiorze 300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FD72032-A74A-4C9B-D5AB-9C8C9BA7DF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003425"/>
            <a:ext cx="3698875" cy="369887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7506A022-7529-0A88-7BF7-E23BDC429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562" y="2003424"/>
            <a:ext cx="3698875" cy="3698875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E56F7B09-75CB-BF86-4C4B-1CBEBFEABB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524" y="2003424"/>
            <a:ext cx="3698876" cy="369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237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9756-1A20-F269-C67A-81E1A19FB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DFAAE7-2422-EFD9-FE5C-14B85C107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- dataset_v2_700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5007275E-BCAF-63EB-B544-975716BFBB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19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3CEB0-F631-0F92-8DC9-F8FE95CE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B18162A7-0147-B733-4B1E-A6A3BE8B8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158" y="1398190"/>
            <a:ext cx="5415492" cy="4061619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C37BCA41-0C20-980E-7692-23174B6A0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" y="986103"/>
            <a:ext cx="7328691" cy="488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1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1FB4E-F2AA-5BB8-1A24-08FAEA226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F8AED3-A617-B5FB-DB90-20FE62BB3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Predykcja modelu </a:t>
            </a:r>
            <a:r>
              <a:rPr lang="pl-PL" dirty="0" err="1"/>
              <a:t>yolo</a:t>
            </a:r>
            <a:r>
              <a:rPr lang="pl-PL" dirty="0"/>
              <a:t> trenowanego na zbiorze 700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7DE883D1-721F-A217-59C9-376599388D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4" y="1941510"/>
            <a:ext cx="3698873" cy="3698873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AA12C86C-2369-93E7-1D74-935BB20AC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530" y="1941509"/>
            <a:ext cx="3698874" cy="3698874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AE3651AA-A4A6-C45D-C973-41EA61C62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787" y="1941509"/>
            <a:ext cx="3698874" cy="369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96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FD0DD-71DB-5669-571C-BB150385B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A4D462-FF50-DC66-3869-532227BEF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- dataset_v2_1500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8E9E0BF4-1C05-489D-A9EE-A33E4AA135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991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CBCF6746-CBCE-87AE-E31D-B99A66CD19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46" y="1253331"/>
            <a:ext cx="6527007" cy="4351338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135C44ED-9836-4271-95CE-F766800B3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092" y="1550988"/>
            <a:ext cx="5404908" cy="405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8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848F5-2756-E1E0-E7F3-7DF7D293E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2B915F1-8456-3B79-FDE2-376080CD1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32" y="1866900"/>
            <a:ext cx="3737768" cy="3737768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BFCAAA6A-34A7-F384-8407-FC675A4F1A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902" y="1866900"/>
            <a:ext cx="3737768" cy="3737768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09D2770C-D28A-D116-AF3C-AA7526F162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172" y="1851818"/>
            <a:ext cx="3752850" cy="3752850"/>
          </a:xfrm>
          <a:prstGeom prst="rect">
            <a:avLst/>
          </a:prstGeom>
        </p:spPr>
      </p:pic>
      <p:sp>
        <p:nvSpPr>
          <p:cNvPr id="14" name="Tytuł 1">
            <a:extLst>
              <a:ext uri="{FF2B5EF4-FFF2-40B4-BE49-F238E27FC236}">
                <a16:creationId xmlns:a16="http://schemas.microsoft.com/office/drawing/2014/main" id="{9DEFD182-3938-7DC5-5135-8087FB96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l-PL" dirty="0"/>
              <a:t>Predykcja modelu </a:t>
            </a:r>
            <a:r>
              <a:rPr lang="pl-PL" dirty="0" err="1"/>
              <a:t>yolo</a:t>
            </a:r>
            <a:r>
              <a:rPr lang="pl-PL" dirty="0"/>
              <a:t> trenowanego na zbiorze 1500</a:t>
            </a:r>
          </a:p>
        </p:txBody>
      </p:sp>
    </p:spTree>
    <p:extLst>
      <p:ext uri="{BB962C8B-B14F-4D97-AF65-F5344CB8AC3E}">
        <p14:creationId xmlns:p14="http://schemas.microsoft.com/office/powerpoint/2010/main" val="1754206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A00B3-7C08-E6B1-C4A1-1C5902CE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0DCE8A-DEA2-0E10-9129-9E375AFE4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- dataset_v2_3000</a:t>
            </a:r>
          </a:p>
        </p:txBody>
      </p:sp>
      <p:pic>
        <p:nvPicPr>
          <p:cNvPr id="6" name="Symbol zastępczy zawartości 5">
            <a:extLst>
              <a:ext uri="{FF2B5EF4-FFF2-40B4-BE49-F238E27FC236}">
                <a16:creationId xmlns:a16="http://schemas.microsoft.com/office/drawing/2014/main" id="{93225ECD-B0E4-0547-0C1F-82E0FE3C0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32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D0388-E62C-2015-C7A9-7D31D3AD6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1ED11041-CCA1-F204-C030-D418C9685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3331"/>
            <a:ext cx="6527007" cy="4351338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775A3367-2ABB-6F16-B36B-A7FBEE9D3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007" y="1495425"/>
            <a:ext cx="515620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809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8A9D5-601D-0ED0-A3E0-ADF0D29CA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ymbol zastępczy zawartości 5">
            <a:extLst>
              <a:ext uri="{FF2B5EF4-FFF2-40B4-BE49-F238E27FC236}">
                <a16:creationId xmlns:a16="http://schemas.microsoft.com/office/drawing/2014/main" id="{4E290B79-34E9-3A40-00A2-3D439C46A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81" y="1901825"/>
            <a:ext cx="3810001" cy="3810001"/>
          </a:xfrm>
          <a:prstGeom prst="rect">
            <a:avLst/>
          </a:prstGeom>
        </p:spPr>
      </p:pic>
      <p:sp>
        <p:nvSpPr>
          <p:cNvPr id="4" name="Tytuł 1">
            <a:extLst>
              <a:ext uri="{FF2B5EF4-FFF2-40B4-BE49-F238E27FC236}">
                <a16:creationId xmlns:a16="http://schemas.microsoft.com/office/drawing/2014/main" id="{A8720490-547F-4950-2DA6-84185FCA9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l-PL" dirty="0"/>
              <a:t>Predykcja modelu </a:t>
            </a:r>
            <a:r>
              <a:rPr lang="pl-PL" dirty="0" err="1"/>
              <a:t>yolo</a:t>
            </a:r>
            <a:r>
              <a:rPr lang="pl-PL" dirty="0"/>
              <a:t> trenowanego na zbiorze 3000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3D716737-73F0-2F79-70E9-7AEA45FDD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901825"/>
            <a:ext cx="3810000" cy="3810000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23A1D766-6E23-E303-9D60-1DA0ABCBFE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486" y="1901824"/>
            <a:ext cx="3809999" cy="380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828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70F0B-1C0D-9244-0286-8460450B8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FC1441-F915-05CA-4CEA-916427244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- dataset_v2_6000</a:t>
            </a:r>
          </a:p>
        </p:txBody>
      </p:sp>
      <p:pic>
        <p:nvPicPr>
          <p:cNvPr id="6" name="Symbol zastępczy zawartości 5">
            <a:extLst>
              <a:ext uri="{FF2B5EF4-FFF2-40B4-BE49-F238E27FC236}">
                <a16:creationId xmlns:a16="http://schemas.microsoft.com/office/drawing/2014/main" id="{B6C3D32F-C183-69EA-EA5F-9CFF3BE300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116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FA467-E90A-4CF2-BD80-D10F500CA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16A72A1-54B3-2CEB-B239-6546446F2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7475"/>
            <a:ext cx="6527007" cy="4351338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5F6D5D9A-B707-65BA-147C-FC9BA59D9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50" y="1628775"/>
            <a:ext cx="48006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905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0F300-052E-693F-0617-1C009C92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ymbol zastępczy zawartości 5">
            <a:extLst>
              <a:ext uri="{FF2B5EF4-FFF2-40B4-BE49-F238E27FC236}">
                <a16:creationId xmlns:a16="http://schemas.microsoft.com/office/drawing/2014/main" id="{DD795720-0E15-42AA-7975-9E3DAA1587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81" y="1882775"/>
            <a:ext cx="3794125" cy="3794125"/>
          </a:xfrm>
          <a:prstGeom prst="rect">
            <a:avLst/>
          </a:prstGeom>
        </p:spPr>
      </p:pic>
      <p:sp>
        <p:nvSpPr>
          <p:cNvPr id="4" name="Tytuł 1">
            <a:extLst>
              <a:ext uri="{FF2B5EF4-FFF2-40B4-BE49-F238E27FC236}">
                <a16:creationId xmlns:a16="http://schemas.microsoft.com/office/drawing/2014/main" id="{169CB463-1903-2B06-2214-2C0381778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l-PL" dirty="0"/>
              <a:t>Predykcja modelu </a:t>
            </a:r>
            <a:r>
              <a:rPr lang="pl-PL" dirty="0" err="1"/>
              <a:t>yolo</a:t>
            </a:r>
            <a:r>
              <a:rPr lang="pl-PL" dirty="0"/>
              <a:t> trenowanego na zbiorze 6000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58CF32B7-4A74-97A7-1321-04E15093A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882775"/>
            <a:ext cx="3794124" cy="3794124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F8FE1F30-98DF-EDB1-74E0-0ED63CA350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417" y="1863723"/>
            <a:ext cx="3810001" cy="381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442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C2A2-09D0-5BD7-D8F7-FB5FE1CE8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F84CDF-551F-2AB2-6F53-D7735C510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- dataset_v2_12000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86AB3DED-A02F-A701-B797-9333F6C33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33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F4451-1E32-F361-4F31-27A2E65A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C8C93622-FB57-EA88-79E9-B934F3EF0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96" y="1253331"/>
            <a:ext cx="6527007" cy="4351338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C55518BD-89B0-4295-9A6C-C3798829C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503" y="1581001"/>
            <a:ext cx="4927997" cy="369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30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83F1C-8ED1-1700-9305-0F8311A3B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2056C16-BCD7-9968-05F8-C00FDD95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Predykcja modelu </a:t>
            </a:r>
            <a:r>
              <a:rPr lang="pl-PL" dirty="0" err="1"/>
              <a:t>yolo</a:t>
            </a:r>
            <a:r>
              <a:rPr lang="pl-PL" dirty="0"/>
              <a:t> trenowanego na zbiorze 12000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09AC3F43-745C-3CD3-D1CC-74256D614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81" y="1766888"/>
            <a:ext cx="3738562" cy="3738562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BAE306FA-8132-F3F9-BD98-C5264E1AE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719" y="1764507"/>
            <a:ext cx="3738562" cy="3738562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EC7AFBE7-4C61-28D6-7646-243BA2924E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957" y="1764507"/>
            <a:ext cx="3738562" cy="373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50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C520C-2D4D-2A1A-0A31-E0C8A1D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EA3DCB0-0E23-E65E-950E-CFCDBBAA8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- dataset_v2_24000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78F40DE-15D0-2F3F-1EA4-373C0C487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901566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BAEF0-4E2F-513C-BA0E-0774E74B4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6C50B3E7-ECEF-2851-A556-4864DF0E2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1387475"/>
            <a:ext cx="6527007" cy="4351338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8015856A-2319-6652-8466-6839C1DAED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107" y="1681163"/>
            <a:ext cx="541020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746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4BB01-1C17-7E6E-6AA5-6436EF1D5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1">
            <a:extLst>
              <a:ext uri="{FF2B5EF4-FFF2-40B4-BE49-F238E27FC236}">
                <a16:creationId xmlns:a16="http://schemas.microsoft.com/office/drawing/2014/main" id="{53D2BD22-7446-CB9B-6697-7455D7BE3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l-PL" dirty="0"/>
              <a:t>Predykcja modelu </a:t>
            </a:r>
            <a:r>
              <a:rPr lang="pl-PL" dirty="0" err="1"/>
              <a:t>yolo</a:t>
            </a:r>
            <a:r>
              <a:rPr lang="pl-PL" dirty="0"/>
              <a:t> trenowanego na zbiorze 24000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52197A8B-16DA-E0CC-6BE7-275DCCAB5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1905000"/>
            <a:ext cx="3695700" cy="369570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4D4CD738-74D7-A241-1968-B788BE21E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829" y="1905000"/>
            <a:ext cx="3695700" cy="3695700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A641B037-F0CC-0656-35EB-8860DB8146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58" y="1905000"/>
            <a:ext cx="369570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793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226E95-210E-78F0-991C-9D2B0DFEC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Podsumowanie:</a:t>
            </a:r>
          </a:p>
        </p:txBody>
      </p:sp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878BF0B1-063B-9797-0386-0CE56CB8A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0636" y="2034381"/>
            <a:ext cx="10443164" cy="310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852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2CB4D2-B6DD-1BA3-84E9-6E00F2304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Wnioski: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1B57FCF-EA8C-6D71-E065-41A0F766D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pl-PL" b="1" dirty="0"/>
              <a:t>Wpływ na precyzję geometrii:</a:t>
            </a:r>
            <a:r>
              <a:rPr lang="pl-PL" dirty="0"/>
              <a:t> Powiększanie zbioru danych w niewielkim stopniu zmienia ogólne wykrywanie (mAP50), lecz drastycznie podnosi dokładność dopasowania ramek ograniczających (mAP50-95).</a:t>
            </a:r>
          </a:p>
          <a:p>
            <a:pPr lvl="0"/>
            <a:r>
              <a:rPr lang="pl-PL" b="1" dirty="0"/>
              <a:t>Punkt przegięcia (</a:t>
            </a:r>
            <a:r>
              <a:rPr lang="pl-PL" b="1" dirty="0" err="1"/>
              <a:t>Inflection</a:t>
            </a:r>
            <a:r>
              <a:rPr lang="pl-PL" b="1" dirty="0"/>
              <a:t> Point):</a:t>
            </a:r>
            <a:r>
              <a:rPr lang="pl-PL" dirty="0"/>
              <a:t> Próg 3000 obrazów stanowi kluczowy moment transformacji, w którym model osiąga gwałtowny skok jakościowy w generalizacji przestrzennej.</a:t>
            </a:r>
          </a:p>
          <a:p>
            <a:pPr lvl="0"/>
            <a:r>
              <a:rPr lang="pl-PL" b="1" dirty="0"/>
              <a:t>Eliminacja fałszywych alarmów:</a:t>
            </a:r>
            <a:r>
              <a:rPr lang="pl-PL" dirty="0"/>
              <a:t> Wariant wytrenowany na 24 000 obrazów niemal całkowicie eliminuje fałszywe detekcje, osiągając Precision na poziomie 99.85%.</a:t>
            </a:r>
          </a:p>
          <a:p>
            <a:pPr lvl="0"/>
            <a:r>
              <a:rPr lang="pl-PL" b="1" dirty="0"/>
              <a:t>Kompletność wykrywania:</a:t>
            </a:r>
            <a:r>
              <a:rPr lang="pl-PL" dirty="0"/>
              <a:t> Wskaźnik czułości (</a:t>
            </a:r>
            <a:r>
              <a:rPr lang="pl-PL" dirty="0" err="1"/>
              <a:t>Recall</a:t>
            </a:r>
            <a:r>
              <a:rPr lang="pl-PL" dirty="0"/>
              <a:t>) wzrasta stabilnie do 99.02%, co potwierdza znikomą liczbę pominiętych przestrzelin na tarczy.</a:t>
            </a:r>
          </a:p>
          <a:p>
            <a:pPr lvl="0"/>
            <a:r>
              <a:rPr lang="pl-PL" b="1" dirty="0"/>
              <a:t>Optymalizacja inżynieryjna (</a:t>
            </a:r>
            <a:r>
              <a:rPr lang="pl-PL" b="1" dirty="0" err="1"/>
              <a:t>Diminishing</a:t>
            </a:r>
            <a:r>
              <a:rPr lang="pl-PL" b="1" dirty="0"/>
              <a:t> </a:t>
            </a:r>
            <a:r>
              <a:rPr lang="pl-PL" b="1" dirty="0" err="1"/>
              <a:t>Returns</a:t>
            </a:r>
            <a:r>
              <a:rPr lang="pl-PL" b="1" dirty="0"/>
              <a:t>):</a:t>
            </a:r>
            <a:r>
              <a:rPr lang="pl-PL" dirty="0"/>
              <a:t> Zbiory rzędu 3000–6000 obrazów oferują najlepszy kompromis czasowo-jakościowy, podczas gdy zbiór 24 000 obrazów stanowi maksymalną optymalizację typu </a:t>
            </a:r>
            <a:r>
              <a:rPr lang="pl-PL" i="1" dirty="0" err="1"/>
              <a:t>state</a:t>
            </a:r>
            <a:r>
              <a:rPr lang="pl-PL" i="1" dirty="0"/>
              <a:t>-of-the-art</a:t>
            </a:r>
            <a:r>
              <a:rPr lang="pl-PL" dirty="0"/>
              <a:t>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183599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576</Words>
  <Application>Microsoft Office PowerPoint</Application>
  <PresentationFormat>Panoramiczny</PresentationFormat>
  <Paragraphs>54</Paragraphs>
  <Slides>29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Motyw pakietu Office</vt:lpstr>
      <vt:lpstr>Przestrzeliny, raport z uczenia modelu Yolo11n</vt:lpstr>
      <vt:lpstr>Instrukcja uruchomienia - Trening </vt:lpstr>
      <vt:lpstr>Instrukcja uruchomienia – Predykcja (naoczna weryfikacja działania modelu)</vt:lpstr>
      <vt:lpstr>Dane wejściowe i parametry Treningu Modelu</vt:lpstr>
      <vt:lpstr>Architektura i Optymalizacja Pipeline'u</vt:lpstr>
      <vt:lpstr>Skalowanie Zgromadzonych Danych</vt:lpstr>
      <vt:lpstr>Wyniki - dataset_v2_300</vt:lpstr>
      <vt:lpstr>Prezentacja programu PowerPoint</vt:lpstr>
      <vt:lpstr>Predykcja modelu yolo trenowanego na zbiorze 300</vt:lpstr>
      <vt:lpstr>Wyniki - dataset_v2_700</vt:lpstr>
      <vt:lpstr>Prezentacja programu PowerPoint</vt:lpstr>
      <vt:lpstr>Predykcja modelu yolo trenowanego na zbiorze 700</vt:lpstr>
      <vt:lpstr>Wyniki - dataset_v2_1500</vt:lpstr>
      <vt:lpstr>Prezentacja programu PowerPoint</vt:lpstr>
      <vt:lpstr>Predykcja modelu yolo trenowanego na zbiorze 1500</vt:lpstr>
      <vt:lpstr>Wyniki - dataset_v2_3000</vt:lpstr>
      <vt:lpstr>Prezentacja programu PowerPoint</vt:lpstr>
      <vt:lpstr>Predykcja modelu yolo trenowanego na zbiorze 3000</vt:lpstr>
      <vt:lpstr>Wyniki - dataset_v2_6000</vt:lpstr>
      <vt:lpstr>Prezentacja programu PowerPoint</vt:lpstr>
      <vt:lpstr>Predykcja modelu yolo trenowanego na zbiorze 6000</vt:lpstr>
      <vt:lpstr>Wyniki - dataset_v2_12000</vt:lpstr>
      <vt:lpstr>Prezentacja programu PowerPoint</vt:lpstr>
      <vt:lpstr>Predykcja modelu yolo trenowanego na zbiorze 12000</vt:lpstr>
      <vt:lpstr>Wyniki - dataset_v2_24000</vt:lpstr>
      <vt:lpstr>Prezentacja programu PowerPoint</vt:lpstr>
      <vt:lpstr>Predykcja modelu yolo trenowanego na zbiorze 24000</vt:lpstr>
      <vt:lpstr>Podsumowanie:</vt:lpstr>
      <vt:lpstr>Wnioski: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Maciążek</dc:creator>
  <cp:lastModifiedBy>Jan Maciążek</cp:lastModifiedBy>
  <cp:revision>2</cp:revision>
  <dcterms:created xsi:type="dcterms:W3CDTF">2026-09-09T16:34:34Z</dcterms:created>
  <dcterms:modified xsi:type="dcterms:W3CDTF">2026-09-09T17:58:11Z</dcterms:modified>
</cp:coreProperties>
</file>